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69" r:id="rId3"/>
    <p:sldId id="290" r:id="rId4"/>
    <p:sldId id="272" r:id="rId5"/>
    <p:sldId id="291" r:id="rId6"/>
    <p:sldId id="282" r:id="rId7"/>
    <p:sldId id="266" r:id="rId8"/>
    <p:sldId id="274" r:id="rId9"/>
    <p:sldId id="29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712BFF-7438-4576-931F-3E0C416B27AD}" v="5" dt="2026-02-24T19:24:46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4CA4-38DA-8224-D11D-825ABFE1E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5BAD9-825D-B05D-38B4-D7DDA8764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8FA7-7D96-E182-26DE-3624E64C6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893E-FAC2-484C-9C2C-C0BDF7B4259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D6DE3-B431-F3A4-1243-2413D326F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63C75-5F93-B3F7-2277-D5831095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11415-7CDF-4738-BBF0-4A7E59D9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36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EBBB8-295C-7161-6655-8310D4DB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EE2D3-D41A-772F-82B4-69717B2A7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6D9A4-5417-E4C0-A44A-61252C8B3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893E-FAC2-484C-9C2C-C0BDF7B4259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9B348-5446-9B66-8216-F2C812D70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13594-8729-0679-4F1D-92CB2BB1B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11415-7CDF-4738-BBF0-4A7E59D9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2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F8015-AC86-D703-70B2-4430B18C5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3385F-213A-4EE5-2DD1-671D99BD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B78E9-E65C-B1E0-3C0C-00CC891E4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893E-FAC2-484C-9C2C-C0BDF7B4259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59F1A-0DF4-210A-55BF-814FE57C6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8BB01-ACA9-32B4-4E20-C8F259747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11415-7CDF-4738-BBF0-4A7E59D9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98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7B2E1-3E01-B382-AFDE-7A4546DB3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AD7BC-911D-7F43-3536-AB8F7F1E3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F048A-746D-4A3C-FB5B-CDB305101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A05CE-E7B8-4A0C-D3E4-F19B8881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893E-FAC2-484C-9C2C-C0BDF7B4259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3DF51-FD39-3045-2553-76EC2C6F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3A255-8306-E158-6004-508BD540A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11415-7CDF-4738-BBF0-4A7E59D9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9A01A-BE84-337C-763A-35F0CE77C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24DE6-8A99-17A1-57FD-416ED1DAB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41BF7-858B-630D-BB71-EB3886DC9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CE595B-B0C1-0283-2342-D94C4771C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AD1860-E972-DDBA-0985-8ACB2701A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ED156-CAFF-488B-D1E9-9C58BDF3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893E-FAC2-484C-9C2C-C0BDF7B4259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9B25E0-793E-9B41-6685-64F747FA1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5A3907-31DB-6720-8DEC-70C3B8BA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11415-7CDF-4738-BBF0-4A7E59D9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25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B942-D3BC-7AC3-3245-FD6FD538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5AFBF-6714-5B13-779A-6F21E7DC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893E-FAC2-484C-9C2C-C0BDF7B4259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C46AC-3FA9-B1E0-3024-16A239E4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26418-E2D9-1E97-EB50-C2FE06599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11415-7CDF-4738-BBF0-4A7E59D9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6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9E96CC-0D87-0E7B-E1E0-AFC47CB9B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893E-FAC2-484C-9C2C-C0BDF7B4259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A1362A-3C2E-2287-1317-EF248E06F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69324-B186-2861-CFE3-C4F9AF20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11415-7CDF-4738-BBF0-4A7E59D9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88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DEF8-45DD-6C9C-4593-AEF1A817C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A0D9B-A312-305E-37BB-6D1BDA6BE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1A3A3-4607-6493-5BF7-973D77B16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CBEDF-64A8-DFCA-F209-07F6BB8D8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893E-FAC2-484C-9C2C-C0BDF7B4259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4BAD2-2B98-3C4C-2829-2E7AAA7D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0462C-DD78-0DD1-35CB-DA29605F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11415-7CDF-4738-BBF0-4A7E59D9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3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F060-133E-9DD9-5293-87CA0DCFB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00F246-6EB9-A8A1-0288-106BD4B011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763B0-4D01-FFFB-E719-DC78BD368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2137B-4058-3C9D-5FC4-E80DFCE0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893E-FAC2-484C-9C2C-C0BDF7B4259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0481A-76BF-6D33-2D68-9A9FFC4FC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14DB3-89AD-7FB8-F266-0FBE86DE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11415-7CDF-4738-BBF0-4A7E59D9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91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6906-3EB0-E1E6-CE7D-651F3A44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E6A22-8D00-1882-8FBE-C00747A30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BA4E8-ED74-ECF8-2CF0-7B2B2F80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893E-FAC2-484C-9C2C-C0BDF7B4259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CB18B-1B74-E0E8-CF68-619DF8F1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970C5-75F4-7476-2B8B-BA2C86ED0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11415-7CDF-4738-BBF0-4A7E59D9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22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07CB2-99AE-6CFC-D80A-2491567CF5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CBFBA-D0EF-F9D8-DCDD-40F628DA1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15B80-B9F4-2D91-B7D6-6845546B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B893E-FAC2-484C-9C2C-C0BDF7B4259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80796-02A1-36CA-8A71-3B7049F67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73679-D330-02CC-29F6-FBD80ADE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11415-7CDF-4738-BBF0-4A7E59D9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C1D646-18B8-59CF-FD67-5EF7451E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19309-2F45-7CF0-5B13-32CA7D5FF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54C1A-EC97-3259-6FE9-A09DDF911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B893E-FAC2-484C-9C2C-C0BDF7B4259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D5896-2CCD-43A6-D435-23D7044F0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488A3-03C7-2E49-B374-B6C74A9F4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11415-7CDF-4738-BBF0-4A7E59D90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9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6C3DD-F4A3-A586-B04A-B6424AEF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E30FF-6895-1A53-53FF-E3456D8E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91D1C-1946-9FE7-3A30-3D4EBC43E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702"/>
            <a:ext cx="10515600" cy="4351338"/>
          </a:xfrm>
        </p:spPr>
        <p:txBody>
          <a:bodyPr/>
          <a:lstStyle/>
          <a:p>
            <a:r>
              <a:rPr lang="en-US" dirty="0"/>
              <a:t>Step 1 – Define Boundary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0E17E8-02BD-3A15-1FF5-CB753F2CC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0" y="2044156"/>
            <a:ext cx="7843520" cy="38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95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0C3A7-093F-26C9-C068-BCCF67B73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– Create main Transportation Routes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E4E58C-237B-BA89-23DE-4E4A71F27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1533281"/>
            <a:ext cx="9489440" cy="467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4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AFF9B-059C-733E-915D-4357EC59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1BA832-46CF-9C62-9F53-A06042A9AFBC}"/>
              </a:ext>
            </a:extLst>
          </p:cNvPr>
          <p:cNvSpPr/>
          <p:nvPr/>
        </p:nvSpPr>
        <p:spPr>
          <a:xfrm>
            <a:off x="137762" y="139338"/>
            <a:ext cx="3124983" cy="7489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 Draw Transportation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CE6574-B669-EBD9-C008-1B0679F98F94}"/>
              </a:ext>
            </a:extLst>
          </p:cNvPr>
          <p:cNvSpPr/>
          <p:nvPr/>
        </p:nvSpPr>
        <p:spPr>
          <a:xfrm>
            <a:off x="137761" y="4552466"/>
            <a:ext cx="3124983" cy="7643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Volume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DAF79F-CFEA-DBE4-15BA-8968BFA6B3C5}"/>
              </a:ext>
            </a:extLst>
          </p:cNvPr>
          <p:cNvSpPr/>
          <p:nvPr/>
        </p:nvSpPr>
        <p:spPr>
          <a:xfrm>
            <a:off x="119289" y="1015961"/>
            <a:ext cx="3124983" cy="20128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 Aesthetic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CC685-4CF2-E9B5-0FE9-B717ED819EEA}"/>
              </a:ext>
            </a:extLst>
          </p:cNvPr>
          <p:cNvSpPr txBox="1"/>
          <p:nvPr/>
        </p:nvSpPr>
        <p:spPr>
          <a:xfrm>
            <a:off x="3337404" y="1138443"/>
            <a:ext cx="41163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Grand Boulevards &amp; Avenues</a:t>
            </a:r>
          </a:p>
          <a:p>
            <a:r>
              <a:rPr lang="en-US" b="1" dirty="0"/>
              <a:t>Pedestrian-Focused &amp; Scenic Streets</a:t>
            </a:r>
          </a:p>
          <a:p>
            <a:r>
              <a:rPr lang="en-US" b="1" dirty="0">
                <a:highlight>
                  <a:srgbClr val="FFFF00"/>
                </a:highlight>
              </a:rPr>
              <a:t>Water-Centric Thoroughfares</a:t>
            </a:r>
          </a:p>
          <a:p>
            <a:r>
              <a:rPr lang="en-US" b="1" dirty="0"/>
              <a:t>Curvilinear Residential</a:t>
            </a:r>
          </a:p>
          <a:p>
            <a:r>
              <a:rPr lang="en-US" b="1" dirty="0"/>
              <a:t>Neighborhood High Street</a:t>
            </a:r>
          </a:p>
          <a:p>
            <a:pPr>
              <a:buNone/>
            </a:pPr>
            <a:r>
              <a:rPr lang="en-US" b="1" dirty="0"/>
              <a:t>Industrial Collector</a:t>
            </a:r>
          </a:p>
          <a:p>
            <a:pPr>
              <a:buNone/>
            </a:pPr>
            <a:r>
              <a:rPr lang="en-US" b="1" dirty="0"/>
              <a:t>Other (add reference image or text)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2F5880-9ABD-61CE-0270-3600208EC36B}"/>
              </a:ext>
            </a:extLst>
          </p:cNvPr>
          <p:cNvSpPr/>
          <p:nvPr/>
        </p:nvSpPr>
        <p:spPr>
          <a:xfrm>
            <a:off x="137761" y="5413612"/>
            <a:ext cx="3124983" cy="12416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5. Add descriptive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F29925-E311-120F-D712-6FC6CB77FFC5}"/>
              </a:ext>
            </a:extLst>
          </p:cNvPr>
          <p:cNvSpPr txBox="1"/>
          <p:nvPr/>
        </p:nvSpPr>
        <p:spPr>
          <a:xfrm>
            <a:off x="8478982" y="510062"/>
            <a:ext cx="3713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Water-Centric Thoroughfares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603E5A-5FD6-4635-FD66-35E5448B13A3}"/>
              </a:ext>
            </a:extLst>
          </p:cNvPr>
          <p:cNvSpPr txBox="1"/>
          <p:nvPr/>
        </p:nvSpPr>
        <p:spPr>
          <a:xfrm>
            <a:off x="8365770" y="9153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Philosopher’s Path (Kyoto, Japan)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0B5E3F5-0BB4-67DA-0C68-CD904A608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0160" y="1360268"/>
            <a:ext cx="2043542" cy="111556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78E9EE2-72D5-DE5D-C3E6-D391EF9BC11F}"/>
              </a:ext>
            </a:extLst>
          </p:cNvPr>
          <p:cNvSpPr txBox="1"/>
          <p:nvPr/>
        </p:nvSpPr>
        <p:spPr>
          <a:xfrm>
            <a:off x="3337404" y="289431"/>
            <a:ext cx="4116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Create georeferenced polylines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57A72555-D5E9-C9A5-1A8F-7E9A7210B8E2}"/>
              </a:ext>
            </a:extLst>
          </p:cNvPr>
          <p:cNvCxnSpPr>
            <a:endCxn id="10" idx="1"/>
          </p:cNvCxnSpPr>
          <p:nvPr/>
        </p:nvCxnSpPr>
        <p:spPr>
          <a:xfrm flipV="1">
            <a:off x="6553200" y="694728"/>
            <a:ext cx="1925782" cy="123305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53A6C61-DEC2-5668-7C82-08640E385D15}"/>
              </a:ext>
            </a:extLst>
          </p:cNvPr>
          <p:cNvSpPr txBox="1"/>
          <p:nvPr/>
        </p:nvSpPr>
        <p:spPr>
          <a:xfrm>
            <a:off x="3399751" y="5701607"/>
            <a:ext cx="3672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“Make the trees maple trees. Use cobblestone for the sidewalk”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8D0ADB-E9D8-3245-9CB9-85737D6666AE}"/>
              </a:ext>
            </a:extLst>
          </p:cNvPr>
          <p:cNvSpPr txBox="1"/>
          <p:nvPr/>
        </p:nvSpPr>
        <p:spPr>
          <a:xfrm>
            <a:off x="3399751" y="4611474"/>
            <a:ext cx="38443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High, Medium, Low </a:t>
            </a:r>
          </a:p>
          <a:p>
            <a:pPr>
              <a:buNone/>
            </a:pPr>
            <a:r>
              <a:rPr lang="en-US" b="1" dirty="0"/>
              <a:t>(this will determine the road size)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47526EF-A735-FD62-2B27-B4FE27410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880" y="3110927"/>
            <a:ext cx="2710102" cy="147944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383B26F1-8CD2-C379-95BE-0A2CABEADCF3}"/>
              </a:ext>
            </a:extLst>
          </p:cNvPr>
          <p:cNvSpPr txBox="1"/>
          <p:nvPr/>
        </p:nvSpPr>
        <p:spPr>
          <a:xfrm>
            <a:off x="8473382" y="2659504"/>
            <a:ext cx="3599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Nyhavn (Copenhagen, Denmark)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66DCE5-7F30-4799-D3B4-89AB8CA5FA8E}"/>
              </a:ext>
            </a:extLst>
          </p:cNvPr>
          <p:cNvSpPr/>
          <p:nvPr/>
        </p:nvSpPr>
        <p:spPr>
          <a:xfrm>
            <a:off x="119288" y="3125633"/>
            <a:ext cx="3124983" cy="13300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Mode Priority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 Rank 1 is top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“N/A” will not be included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584F1-DFAF-C11E-6236-31BE4E5212A9}"/>
              </a:ext>
            </a:extLst>
          </p:cNvPr>
          <p:cNvSpPr txBox="1"/>
          <p:nvPr/>
        </p:nvSpPr>
        <p:spPr>
          <a:xfrm>
            <a:off x="3399751" y="3235358"/>
            <a:ext cx="22584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Pedestrian </a:t>
            </a:r>
          </a:p>
          <a:p>
            <a:pPr>
              <a:buNone/>
            </a:pPr>
            <a:r>
              <a:rPr lang="en-US" b="1" dirty="0"/>
              <a:t>Cycling </a:t>
            </a:r>
          </a:p>
          <a:p>
            <a:pPr>
              <a:buNone/>
            </a:pPr>
            <a:r>
              <a:rPr lang="en-US" b="1" dirty="0"/>
              <a:t>Transit </a:t>
            </a:r>
          </a:p>
          <a:p>
            <a:pPr>
              <a:buNone/>
            </a:pPr>
            <a:r>
              <a:rPr lang="en-US" b="1" dirty="0"/>
              <a:t>Automobiles </a:t>
            </a:r>
          </a:p>
        </p:txBody>
      </p:sp>
    </p:spTree>
    <p:extLst>
      <p:ext uri="{BB962C8B-B14F-4D97-AF65-F5344CB8AC3E}">
        <p14:creationId xmlns:p14="http://schemas.microsoft.com/office/powerpoint/2010/main" val="3459250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95598-2D84-598B-2FAF-985A64565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– Parcels with generalized land use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EF8C47-320E-7549-2384-A16E425F8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80" y="1402081"/>
            <a:ext cx="9489440" cy="5222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AFD0C1-FFB4-C09C-C3B1-03FAA8C01488}"/>
              </a:ext>
            </a:extLst>
          </p:cNvPr>
          <p:cNvSpPr txBox="1"/>
          <p:nvPr/>
        </p:nvSpPr>
        <p:spPr>
          <a:xfrm>
            <a:off x="3920777" y="2542978"/>
            <a:ext cx="179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Residential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FD140-9AD9-967C-A795-28A26150D7FE}"/>
              </a:ext>
            </a:extLst>
          </p:cNvPr>
          <p:cNvSpPr txBox="1"/>
          <p:nvPr/>
        </p:nvSpPr>
        <p:spPr>
          <a:xfrm>
            <a:off x="6600067" y="4602836"/>
            <a:ext cx="179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Residential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58F396-C0FD-AC43-383F-6EAC57F66884}"/>
              </a:ext>
            </a:extLst>
          </p:cNvPr>
          <p:cNvSpPr txBox="1"/>
          <p:nvPr/>
        </p:nvSpPr>
        <p:spPr>
          <a:xfrm>
            <a:off x="6900279" y="3166154"/>
            <a:ext cx="2996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Mixed Use (Residential and Commercial)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CA48F1-E46B-6D47-4399-1B361198CAC2}"/>
              </a:ext>
            </a:extLst>
          </p:cNvPr>
          <p:cNvSpPr txBox="1"/>
          <p:nvPr/>
        </p:nvSpPr>
        <p:spPr>
          <a:xfrm>
            <a:off x="2595718" y="4233504"/>
            <a:ext cx="2996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Green Space</a:t>
            </a:r>
          </a:p>
        </p:txBody>
      </p:sp>
    </p:spTree>
    <p:extLst>
      <p:ext uri="{BB962C8B-B14F-4D97-AF65-F5344CB8AC3E}">
        <p14:creationId xmlns:p14="http://schemas.microsoft.com/office/powerpoint/2010/main" val="104389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B83CC-67B3-ED7B-3BDF-CBDBC7963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134678-3945-6D08-A5B8-77411B115F1C}"/>
              </a:ext>
            </a:extLst>
          </p:cNvPr>
          <p:cNvSpPr/>
          <p:nvPr/>
        </p:nvSpPr>
        <p:spPr>
          <a:xfrm>
            <a:off x="200107" y="152429"/>
            <a:ext cx="4314932" cy="7619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 Draw Parcel 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108787-132D-1279-FEED-AB6CD9F4364D}"/>
              </a:ext>
            </a:extLst>
          </p:cNvPr>
          <p:cNvSpPr/>
          <p:nvPr/>
        </p:nvSpPr>
        <p:spPr>
          <a:xfrm>
            <a:off x="200107" y="4639335"/>
            <a:ext cx="4314932" cy="8710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Building height: number of stories: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811BAB-67CC-7504-6FB2-64E6E825F186}"/>
              </a:ext>
            </a:extLst>
          </p:cNvPr>
          <p:cNvSpPr/>
          <p:nvPr/>
        </p:nvSpPr>
        <p:spPr>
          <a:xfrm>
            <a:off x="200107" y="3089695"/>
            <a:ext cx="4314932" cy="14338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Aesthetic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A24ED4-666D-7565-EEB2-AF5B78D63552}"/>
              </a:ext>
            </a:extLst>
          </p:cNvPr>
          <p:cNvSpPr/>
          <p:nvPr/>
        </p:nvSpPr>
        <p:spPr>
          <a:xfrm>
            <a:off x="200107" y="1015084"/>
            <a:ext cx="4314932" cy="20259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Type of Land Use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47D5C-3FF8-A227-76CC-E4935C9E5411}"/>
              </a:ext>
            </a:extLst>
          </p:cNvPr>
          <p:cNvSpPr txBox="1"/>
          <p:nvPr/>
        </p:nvSpPr>
        <p:spPr>
          <a:xfrm>
            <a:off x="4591241" y="1015084"/>
            <a:ext cx="41856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highlight>
                  <a:srgbClr val="FFFF00"/>
                </a:highlight>
              </a:rPr>
              <a:t>Residential</a:t>
            </a:r>
          </a:p>
          <a:p>
            <a:pPr>
              <a:buNone/>
            </a:pPr>
            <a:r>
              <a:rPr lang="en-US" dirty="0"/>
              <a:t>Commercial </a:t>
            </a:r>
          </a:p>
          <a:p>
            <a:pPr>
              <a:buNone/>
            </a:pPr>
            <a:r>
              <a:rPr lang="en-US" dirty="0"/>
              <a:t>Mixed use (residential / commercial)</a:t>
            </a:r>
          </a:p>
          <a:p>
            <a:pPr>
              <a:buNone/>
            </a:pPr>
            <a:r>
              <a:rPr lang="en-US" dirty="0"/>
              <a:t>Park / Plaza</a:t>
            </a:r>
          </a:p>
          <a:p>
            <a:pPr>
              <a:buNone/>
            </a:pPr>
            <a:r>
              <a:rPr lang="en-US" dirty="0"/>
              <a:t>Institutional (Hospital, University etc.)</a:t>
            </a:r>
          </a:p>
          <a:p>
            <a:pPr>
              <a:buNone/>
            </a:pPr>
            <a:r>
              <a:rPr lang="en-US" dirty="0"/>
              <a:t>Industrial </a:t>
            </a:r>
          </a:p>
          <a:p>
            <a:pPr>
              <a:buNone/>
            </a:pPr>
            <a:r>
              <a:rPr lang="en-US" dirty="0"/>
              <a:t>Other (add reference image or text)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FCBFB-0A84-3E4E-8EB3-6DCA0E47B96D}"/>
              </a:ext>
            </a:extLst>
          </p:cNvPr>
          <p:cNvSpPr txBox="1"/>
          <p:nvPr/>
        </p:nvSpPr>
        <p:spPr>
          <a:xfrm>
            <a:off x="4599713" y="4693947"/>
            <a:ext cx="3077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N/A (Park / Plaza), 1 (3-4m), 2 (6-8 m), 3(9-12m )…40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4CA4F-47B6-AC06-159A-EF2AE7A9B254}"/>
              </a:ext>
            </a:extLst>
          </p:cNvPr>
          <p:cNvSpPr txBox="1"/>
          <p:nvPr/>
        </p:nvSpPr>
        <p:spPr>
          <a:xfrm>
            <a:off x="4691935" y="348748"/>
            <a:ext cx="4116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Create georeferenced polygon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E54A81-4558-136D-F823-C14B63A4CD1E}"/>
              </a:ext>
            </a:extLst>
          </p:cNvPr>
          <p:cNvSpPr/>
          <p:nvPr/>
        </p:nvSpPr>
        <p:spPr>
          <a:xfrm>
            <a:off x="200107" y="5626235"/>
            <a:ext cx="4314932" cy="9804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5. Add descriptive 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156E69-2CCA-43A1-43EE-EC30E15C1618}"/>
              </a:ext>
            </a:extLst>
          </p:cNvPr>
          <p:cNvSpPr txBox="1"/>
          <p:nvPr/>
        </p:nvSpPr>
        <p:spPr>
          <a:xfrm>
            <a:off x="4549827" y="3275757"/>
            <a:ext cx="39916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Historic / Traditional</a:t>
            </a:r>
          </a:p>
          <a:p>
            <a:pPr>
              <a:buNone/>
            </a:pPr>
            <a:r>
              <a:rPr lang="en-US" b="1" dirty="0"/>
              <a:t>Modern </a:t>
            </a:r>
          </a:p>
          <a:p>
            <a:pPr>
              <a:buNone/>
            </a:pPr>
            <a:r>
              <a:rPr lang="en-US" b="1" dirty="0"/>
              <a:t>Futuristic  </a:t>
            </a:r>
          </a:p>
          <a:p>
            <a:pPr>
              <a:buNone/>
            </a:pPr>
            <a:r>
              <a:rPr lang="en-US" b="1" dirty="0"/>
              <a:t>Other (add reference image or text)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6A716E5-D128-75DB-FF7F-D32224747B44}"/>
              </a:ext>
            </a:extLst>
          </p:cNvPr>
          <p:cNvCxnSpPr>
            <a:cxnSpLocks/>
          </p:cNvCxnSpPr>
          <p:nvPr/>
        </p:nvCxnSpPr>
        <p:spPr>
          <a:xfrm flipV="1">
            <a:off x="6851072" y="1094509"/>
            <a:ext cx="2486892" cy="2193193"/>
          </a:xfrm>
          <a:prstGeom prst="bentConnector3">
            <a:avLst>
              <a:gd name="adj1" fmla="val 739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FE4E6D4-8A03-DC17-5817-E7C98414F9D8}"/>
              </a:ext>
            </a:extLst>
          </p:cNvPr>
          <p:cNvSpPr txBox="1"/>
          <p:nvPr/>
        </p:nvSpPr>
        <p:spPr>
          <a:xfrm>
            <a:off x="4591241" y="5788971"/>
            <a:ext cx="3672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“Have the houses all have large backyards full of trees”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FEDCC1-9895-C491-2E41-250A794E1AB0}"/>
              </a:ext>
            </a:extLst>
          </p:cNvPr>
          <p:cNvSpPr txBox="1"/>
          <p:nvPr/>
        </p:nvSpPr>
        <p:spPr>
          <a:xfrm>
            <a:off x="8866501" y="3653429"/>
            <a:ext cx="3325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Parisian Haussmann Apartment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EBD440D-1D83-6795-6497-82A7325F8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964" y="4022761"/>
            <a:ext cx="2639290" cy="144078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2A2C402-F35B-145B-0E83-00985A2FA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3220" y="1826534"/>
            <a:ext cx="2613422" cy="142666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94DB7DB-4FB0-3058-357E-857543727FB5}"/>
              </a:ext>
            </a:extLst>
          </p:cNvPr>
          <p:cNvSpPr txBox="1"/>
          <p:nvPr/>
        </p:nvSpPr>
        <p:spPr>
          <a:xfrm>
            <a:off x="8692408" y="785736"/>
            <a:ext cx="3475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Residential </a:t>
            </a:r>
          </a:p>
          <a:p>
            <a:pPr algn="ctr"/>
            <a:r>
              <a:rPr lang="en-US" b="1" dirty="0">
                <a:highlight>
                  <a:srgbClr val="FFFF00"/>
                </a:highlight>
              </a:rPr>
              <a:t>Historic / Traditional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187FE9-738E-F66C-AE34-E183EC6048DE}"/>
              </a:ext>
            </a:extLst>
          </p:cNvPr>
          <p:cNvSpPr txBox="1"/>
          <p:nvPr/>
        </p:nvSpPr>
        <p:spPr>
          <a:xfrm>
            <a:off x="8866501" y="1432067"/>
            <a:ext cx="3325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New York Brownstone</a:t>
            </a:r>
          </a:p>
        </p:txBody>
      </p:sp>
    </p:spTree>
    <p:extLst>
      <p:ext uri="{BB962C8B-B14F-4D97-AF65-F5344CB8AC3E}">
        <p14:creationId xmlns:p14="http://schemas.microsoft.com/office/powerpoint/2010/main" val="2260768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DF4F-5E20-C002-EE95-C574DF5E0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– Generate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9BD557-0736-5A77-AEB6-305C826FC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74" y="1594995"/>
            <a:ext cx="10341862" cy="45510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2EFD5F0-E945-52C2-D31C-839D611CDCBA}"/>
              </a:ext>
            </a:extLst>
          </p:cNvPr>
          <p:cNvSpPr txBox="1">
            <a:spLocks/>
          </p:cNvSpPr>
          <p:nvPr/>
        </p:nvSpPr>
        <p:spPr>
          <a:xfrm>
            <a:off x="1277679" y="583009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Everything within the site boundary (Transportation and land use) is generated.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B2B5C-829C-95BF-46DE-94D63E607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330" y="359093"/>
            <a:ext cx="3952476" cy="339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00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9F17C6-53BB-6CE0-C394-F86338A74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1" y="2110320"/>
            <a:ext cx="3401837" cy="3258702"/>
          </a:xfrm>
          <a:prstGeom prst="rect">
            <a:avLst/>
          </a:prstGeom>
        </p:spPr>
      </p:pic>
      <p:pic>
        <p:nvPicPr>
          <p:cNvPr id="2050" name="Picture 2" descr="Google's Project Genie AI Tool Spooks the Video Game Industry">
            <a:extLst>
              <a:ext uri="{FF2B5EF4-FFF2-40B4-BE49-F238E27FC236}">
                <a16:creationId xmlns:a16="http://schemas.microsoft.com/office/drawing/2014/main" id="{FFF4D89A-8219-5781-3B30-CFFE4E0D7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517" y="2250148"/>
            <a:ext cx="3672076" cy="206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6971260-6D73-FB68-FF42-D15661D75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Step 5 – Digital 3D Walkthrough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5AC253-8055-CCBD-2CF0-DD435CD38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612" y="2581082"/>
            <a:ext cx="4235266" cy="1863790"/>
          </a:xfrm>
          <a:prstGeom prst="rect">
            <a:avLst/>
          </a:prstGeom>
        </p:spPr>
      </p:pic>
      <p:sp>
        <p:nvSpPr>
          <p:cNvPr id="9" name="Plus Sign 8">
            <a:extLst>
              <a:ext uri="{FF2B5EF4-FFF2-40B4-BE49-F238E27FC236}">
                <a16:creationId xmlns:a16="http://schemas.microsoft.com/office/drawing/2014/main" id="{23BD70CA-7A57-928A-B7CA-19492A961ABE}"/>
              </a:ext>
            </a:extLst>
          </p:cNvPr>
          <p:cNvSpPr/>
          <p:nvPr/>
        </p:nvSpPr>
        <p:spPr>
          <a:xfrm>
            <a:off x="3261725" y="3060090"/>
            <a:ext cx="905773" cy="905773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C6BA838B-BD47-1E40-08EC-C9BCA87E9AA7}"/>
              </a:ext>
            </a:extLst>
          </p:cNvPr>
          <p:cNvSpPr/>
          <p:nvPr/>
        </p:nvSpPr>
        <p:spPr>
          <a:xfrm>
            <a:off x="7351875" y="2970332"/>
            <a:ext cx="1004455" cy="769339"/>
          </a:xfrm>
          <a:prstGeom prst="mathEqual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A4F8B4-1313-80F0-D6B1-0AA994DCD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137" y="5019315"/>
            <a:ext cx="3284801" cy="154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32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EE3D8-6740-4284-C2D9-97CC39DFD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AA78-822A-03AA-731B-6ADA205C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 – Digital 3D Walkthrough </a:t>
            </a:r>
          </a:p>
        </p:txBody>
      </p:sp>
      <p:pic>
        <p:nvPicPr>
          <p:cNvPr id="4098" name="Picture 2" descr="How to visit Central Park for the first time — The Empty Nest Explorers">
            <a:extLst>
              <a:ext uri="{FF2B5EF4-FFF2-40B4-BE49-F238E27FC236}">
                <a16:creationId xmlns:a16="http://schemas.microsoft.com/office/drawing/2014/main" id="{62F46909-3269-A5DE-37E5-478498B54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352" y="2324154"/>
            <a:ext cx="5532686" cy="3688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D442A5-48B7-85F9-09A3-D5F747D60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86" y="4004758"/>
            <a:ext cx="4882423" cy="214858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F538EA-5350-9C07-DBE4-BF09919E6C44}"/>
              </a:ext>
            </a:extLst>
          </p:cNvPr>
          <p:cNvCxnSpPr/>
          <p:nvPr/>
        </p:nvCxnSpPr>
        <p:spPr>
          <a:xfrm flipH="1">
            <a:off x="1488558" y="4922874"/>
            <a:ext cx="6996223" cy="435935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BE20965-DC35-F3B4-E426-56487C484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70" y="1542813"/>
            <a:ext cx="4255416" cy="232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692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1A966-070A-35EC-82FE-DD4BECA08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– ability to edit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564613-E907-CADC-CFD2-8146B0E80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74" y="1690688"/>
            <a:ext cx="10341862" cy="455108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48EC08A-38BC-59B8-B3FD-6BA911B45BD8}"/>
              </a:ext>
            </a:extLst>
          </p:cNvPr>
          <p:cNvSpPr/>
          <p:nvPr/>
        </p:nvSpPr>
        <p:spPr>
          <a:xfrm>
            <a:off x="5433238" y="4029740"/>
            <a:ext cx="446567" cy="457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96C7C-7E03-53C1-D0BE-2A31A1C691EF}"/>
              </a:ext>
            </a:extLst>
          </p:cNvPr>
          <p:cNvSpPr txBox="1"/>
          <p:nvPr/>
        </p:nvSpPr>
        <p:spPr>
          <a:xfrm>
            <a:off x="1696859" y="3840609"/>
            <a:ext cx="343331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Revise this intersection to be a roundabout</a:t>
            </a:r>
          </a:p>
        </p:txBody>
      </p:sp>
    </p:spTree>
    <p:extLst>
      <p:ext uri="{BB962C8B-B14F-4D97-AF65-F5344CB8AC3E}">
        <p14:creationId xmlns:p14="http://schemas.microsoft.com/office/powerpoint/2010/main" val="3883221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294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Product:</vt:lpstr>
      <vt:lpstr>Step 2 – Create main Transportation Routes</vt:lpstr>
      <vt:lpstr>PowerPoint Presentation</vt:lpstr>
      <vt:lpstr>Step 3 – Parcels with generalized land use</vt:lpstr>
      <vt:lpstr>PowerPoint Presentation</vt:lpstr>
      <vt:lpstr>Step 4 – Generate </vt:lpstr>
      <vt:lpstr>Step 5 – Digital 3D Walkthrough </vt:lpstr>
      <vt:lpstr>Step 5 – Digital 3D Walkthrough </vt:lpstr>
      <vt:lpstr>Additional – ability to edit </vt:lpstr>
    </vt:vector>
  </TitlesOfParts>
  <Company>City Of Calgary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Sedor, Andrew A.</dc:creator>
  <cp:lastModifiedBy>Sedor, Andrew A.</cp:lastModifiedBy>
  <cp:revision>3</cp:revision>
  <dcterms:created xsi:type="dcterms:W3CDTF">2026-02-18T18:19:45Z</dcterms:created>
  <dcterms:modified xsi:type="dcterms:W3CDTF">2026-02-27T05:52:02Z</dcterms:modified>
</cp:coreProperties>
</file>